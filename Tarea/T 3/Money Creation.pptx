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56" r:id="rId4"/>
    <p:sldId id="260" r:id="rId5"/>
  </p:sldIdLst>
  <p:sldSz cx="24384000" cy="1371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79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en.wikipedia.org/wiki/History_of_banking" TargetMode="External"/><Relationship Id="rId7" Type="http://schemas.openxmlformats.org/officeDocument/2006/relationships/hyperlink" Target="https://www.dyingeconomy.com/credit-creation.html" TargetMode="External"/><Relationship Id="rId2" Type="http://schemas.openxmlformats.org/officeDocument/2006/relationships/hyperlink" Target="https://www.youtube.com/watch?v=fTTGALaRZoc" TargetMode="External"/><Relationship Id="rId1" Type="http://schemas.openxmlformats.org/officeDocument/2006/relationships/slideLayout" Target="../slideLayouts/slideLayout7.xml"/><Relationship Id="rId6" Type="http://schemas.openxmlformats.org/officeDocument/2006/relationships/hyperlink" Target="https://www.youtube.com/watch?v=8xzINLykprA" TargetMode="External"/><Relationship Id="rId5" Type="http://schemas.openxmlformats.org/officeDocument/2006/relationships/hyperlink" Target="https://chat.openai.com/" TargetMode="External"/><Relationship Id="rId4" Type="http://schemas.openxmlformats.org/officeDocument/2006/relationships/hyperlink" Target="https://es.wikipedia.org/wiki/Historia_de_la_banc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descr="Imagen que contiene Logotipo&#10;&#10;El contenido generado por IA puede ser incorrecto.">
            <a:extLst>
              <a:ext uri="{FF2B5EF4-FFF2-40B4-BE49-F238E27FC236}">
                <a16:creationId xmlns:a16="http://schemas.microsoft.com/office/drawing/2014/main" id="{BE63288F-ADD1-1838-6A83-9595FA8092BB}"/>
              </a:ext>
            </a:extLst>
          </p:cNvPr>
          <p:cNvPicPr>
            <a:picLocks noChangeAspect="1"/>
          </p:cNvPicPr>
          <p:nvPr/>
        </p:nvPicPr>
        <p:blipFill>
          <a:blip r:embed="rId2"/>
          <a:srcRect t="7394" r="22009" b="170"/>
          <a:stretch>
            <a:fillRect/>
          </a:stretch>
        </p:blipFill>
        <p:spPr>
          <a:xfrm>
            <a:off x="7046976" y="10"/>
            <a:ext cx="17337024" cy="13715990"/>
          </a:xfrm>
          <a:prstGeom prst="rect">
            <a:avLst/>
          </a:prstGeom>
        </p:spPr>
      </p:pic>
      <p:sp>
        <p:nvSpPr>
          <p:cNvPr id="24" name="Rectangle 23">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513202" cy="13716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uadroTexto 2">
            <a:extLst>
              <a:ext uri="{FF2B5EF4-FFF2-40B4-BE49-F238E27FC236}">
                <a16:creationId xmlns:a16="http://schemas.microsoft.com/office/drawing/2014/main" id="{4F591EF6-B24B-86BC-3310-E32496D82A0E}"/>
              </a:ext>
            </a:extLst>
          </p:cNvPr>
          <p:cNvSpPr txBox="1"/>
          <p:nvPr/>
        </p:nvSpPr>
        <p:spPr>
          <a:xfrm>
            <a:off x="939360" y="2514600"/>
            <a:ext cx="8950038" cy="741545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9600" b="0" i="0" dirty="0">
                <a:effectLst/>
                <a:latin typeface="+mj-lt"/>
                <a:ea typeface="+mj-ea"/>
                <a:cs typeface="+mj-cs"/>
              </a:rPr>
              <a:t>Bank history and moving money</a:t>
            </a:r>
          </a:p>
          <a:p>
            <a:pPr>
              <a:lnSpc>
                <a:spcPct val="90000"/>
              </a:lnSpc>
              <a:spcBef>
                <a:spcPct val="0"/>
              </a:spcBef>
              <a:spcAft>
                <a:spcPts val="600"/>
              </a:spcAft>
            </a:pPr>
            <a:endParaRPr lang="en-US" sz="3600" dirty="0">
              <a:latin typeface="+mj-lt"/>
              <a:ea typeface="+mj-ea"/>
              <a:cs typeface="+mj-cs"/>
            </a:endParaRPr>
          </a:p>
          <a:p>
            <a:pPr>
              <a:lnSpc>
                <a:spcPct val="90000"/>
              </a:lnSpc>
              <a:spcBef>
                <a:spcPct val="0"/>
              </a:spcBef>
              <a:spcAft>
                <a:spcPts val="600"/>
              </a:spcAft>
            </a:pPr>
            <a:r>
              <a:rPr lang="en-US" sz="3600" dirty="0">
                <a:latin typeface="+mj-lt"/>
                <a:ea typeface="+mj-ea"/>
                <a:cs typeface="+mj-cs"/>
              </a:rPr>
              <a:t>José Armando Melchor Soto - 745697</a:t>
            </a:r>
            <a:endParaRPr lang="en-US" sz="3600" b="0" i="0" dirty="0">
              <a:effectLst/>
              <a:latin typeface="+mj-lt"/>
              <a:ea typeface="+mj-ea"/>
              <a:cs typeface="+mj-cs"/>
            </a:endParaRPr>
          </a:p>
        </p:txBody>
      </p:sp>
      <p:sp>
        <p:nvSpPr>
          <p:cNvPr id="26" name="Rectangle 2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19842" y="693582"/>
            <a:ext cx="292608" cy="14081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 name="Rectangle 2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58" y="9093840"/>
            <a:ext cx="7955280" cy="3657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637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DA98AA-E221-4FEF-B269-FA5A68B34A4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8911346" cy="13716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93058" cy="13716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53092"/>
            <a:ext cx="256032" cy="13078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786" y="4886960"/>
            <a:ext cx="6766560" cy="3657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descr="Interfaz de usuario gráfica, Aplicación&#10;&#10;El contenido generado por IA puede ser incorrecto.">
            <a:extLst>
              <a:ext uri="{FF2B5EF4-FFF2-40B4-BE49-F238E27FC236}">
                <a16:creationId xmlns:a16="http://schemas.microsoft.com/office/drawing/2014/main" id="{07E7D4AB-0B6A-7794-DC53-666EDA8AEEB0}"/>
              </a:ext>
            </a:extLst>
          </p:cNvPr>
          <p:cNvPicPr>
            <a:picLocks noChangeAspect="1"/>
          </p:cNvPicPr>
          <p:nvPr/>
        </p:nvPicPr>
        <p:blipFill>
          <a:blip r:embed="rId2"/>
          <a:stretch>
            <a:fillRect/>
          </a:stretch>
        </p:blipFill>
        <p:spPr>
          <a:xfrm>
            <a:off x="9448800" y="2133600"/>
            <a:ext cx="14197584" cy="9372600"/>
          </a:xfrm>
          <a:prstGeom prst="rect">
            <a:avLst/>
          </a:prstGeom>
        </p:spPr>
      </p:pic>
      <p:sp>
        <p:nvSpPr>
          <p:cNvPr id="9" name="CuadroTexto 8">
            <a:extLst>
              <a:ext uri="{FF2B5EF4-FFF2-40B4-BE49-F238E27FC236}">
                <a16:creationId xmlns:a16="http://schemas.microsoft.com/office/drawing/2014/main" id="{F0C9157E-F0C3-564C-A098-256E2D998838}"/>
              </a:ext>
            </a:extLst>
          </p:cNvPr>
          <p:cNvSpPr txBox="1"/>
          <p:nvPr/>
        </p:nvSpPr>
        <p:spPr>
          <a:xfrm>
            <a:off x="710184" y="3029941"/>
            <a:ext cx="5334000" cy="954107"/>
          </a:xfrm>
          <a:prstGeom prst="rect">
            <a:avLst/>
          </a:prstGeom>
          <a:noFill/>
        </p:spPr>
        <p:txBody>
          <a:bodyPr wrap="square" rtlCol="0">
            <a:spAutoFit/>
          </a:bodyPr>
          <a:lstStyle/>
          <a:p>
            <a:r>
              <a:rPr lang="es-MX" sz="5600" dirty="0">
                <a:latin typeface="+mj-lt"/>
              </a:rPr>
              <a:t>History of </a:t>
            </a:r>
            <a:r>
              <a:rPr lang="es-MX" sz="5600" dirty="0">
                <a:latin typeface="+mj-lt"/>
                <a:ea typeface="+mj-ea"/>
                <a:cs typeface="+mj-cs"/>
              </a:rPr>
              <a:t>Banks</a:t>
            </a:r>
          </a:p>
        </p:txBody>
      </p:sp>
    </p:spTree>
    <p:extLst>
      <p:ext uri="{BB962C8B-B14F-4D97-AF65-F5344CB8AC3E}">
        <p14:creationId xmlns:p14="http://schemas.microsoft.com/office/powerpoint/2010/main" val="2464221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8911346" cy="13716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93058" cy="13716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53092"/>
            <a:ext cx="256032" cy="13078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786" y="4886960"/>
            <a:ext cx="6766560" cy="3657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BD742E2A-BF19-6198-DC9C-F51BA3929B43}"/>
              </a:ext>
            </a:extLst>
          </p:cNvPr>
          <p:cNvSpPr txBox="1"/>
          <p:nvPr/>
        </p:nvSpPr>
        <p:spPr>
          <a:xfrm>
            <a:off x="742188" y="5436108"/>
            <a:ext cx="6877812" cy="6414516"/>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3400" dirty="0"/>
              <a:t>Part 1: Flow Chart on Money      	Creation through Credit</a:t>
            </a:r>
          </a:p>
        </p:txBody>
      </p:sp>
      <p:pic>
        <p:nvPicPr>
          <p:cNvPr id="2" name="Picture 2"/>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rcRect l="18946" t="2036" r="7640" b="43644"/>
          <a:stretch>
            <a:fillRect/>
          </a:stretch>
        </p:blipFill>
        <p:spPr>
          <a:xfrm>
            <a:off x="9220200" y="609600"/>
            <a:ext cx="14143414" cy="8305800"/>
          </a:xfrm>
          <a:prstGeom prst="rect">
            <a:avLst/>
          </a:prstGeom>
        </p:spPr>
      </p:pic>
      <p:sp>
        <p:nvSpPr>
          <p:cNvPr id="7" name="CuadroTexto 6">
            <a:extLst>
              <a:ext uri="{FF2B5EF4-FFF2-40B4-BE49-F238E27FC236}">
                <a16:creationId xmlns:a16="http://schemas.microsoft.com/office/drawing/2014/main" id="{47F80CDB-B2E4-6A82-AC5F-E3D0AF27BE74}"/>
              </a:ext>
            </a:extLst>
          </p:cNvPr>
          <p:cNvSpPr txBox="1"/>
          <p:nvPr/>
        </p:nvSpPr>
        <p:spPr>
          <a:xfrm>
            <a:off x="9195816" y="9220200"/>
            <a:ext cx="14445996" cy="337335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lnSpc>
                <a:spcPct val="150000"/>
              </a:lnSpc>
              <a:spcBef>
                <a:spcPts val="600"/>
              </a:spcBef>
              <a:spcAft>
                <a:spcPts val="600"/>
              </a:spcAft>
            </a:pPr>
            <a:r>
              <a:rPr lang="en-US" dirty="0">
                <a:latin typeface="Times New Roman" panose="02020603050405020304" pitchFamily="18" charset="0"/>
                <a:cs typeface="Times New Roman" panose="02020603050405020304" pitchFamily="18" charset="0"/>
              </a:rPr>
              <a:t>Money creation begins when a commercial bank issues a loan, a process known as credit creation. At that moment, the bank creates a new deposit in the borrower’s account, introducing money that did not previously exist into the economy. As this money is spent, it does not move as physical cash; instead, it flows through the financial system through updates in bank records. These transactions depend on complex transfer systems that involve multiple banks, clearing processes, and shared rules, which helps explain why transfers can be slow or involve fees. Over time, borrowers repay their loans, and when the principal is paid back, the money originally created is removed from circulation. This entire process relies on a trust-based system, since confidence between banks and borrowers allows lending to continue. As long as this trust remains, the cycle restarts, connecting money creation and money destruction as ongoing parts of the credit system. This process is very complex because it involves many interconnected factors that must function together.</a:t>
            </a:r>
            <a:br>
              <a:rPr lang="en-US" dirty="0"/>
            </a:br>
            <a:endParaRPr lang="es-MX" dirty="0"/>
          </a:p>
        </p:txBody>
      </p:sp>
      <p:sp>
        <p:nvSpPr>
          <p:cNvPr id="15" name="CuadroTexto 14">
            <a:extLst>
              <a:ext uri="{FF2B5EF4-FFF2-40B4-BE49-F238E27FC236}">
                <a16:creationId xmlns:a16="http://schemas.microsoft.com/office/drawing/2014/main" id="{25B922EC-F523-77CE-2A7A-9A48938CDB33}"/>
              </a:ext>
            </a:extLst>
          </p:cNvPr>
          <p:cNvSpPr txBox="1"/>
          <p:nvPr/>
        </p:nvSpPr>
        <p:spPr>
          <a:xfrm>
            <a:off x="742188" y="1384106"/>
            <a:ext cx="7783068" cy="3539430"/>
          </a:xfrm>
          <a:prstGeom prst="rect">
            <a:avLst/>
          </a:prstGeom>
          <a:noFill/>
        </p:spPr>
        <p:txBody>
          <a:bodyPr wrap="square">
            <a:spAutoFit/>
          </a:bodyPr>
          <a:lstStyle/>
          <a:p>
            <a:r>
              <a:rPr lang="en-US" sz="5600" dirty="0">
                <a:latin typeface="+mj-lt"/>
              </a:rPr>
              <a:t>Understanding Money Creation and the Complexity of Money Movement</a:t>
            </a:r>
            <a:endParaRPr lang="es-MX" sz="5600"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4384000"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Freeform: Shape 25">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8911346" cy="13716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Freeform: Shape 27">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93058" cy="13716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uadroTexto 7">
            <a:extLst>
              <a:ext uri="{FF2B5EF4-FFF2-40B4-BE49-F238E27FC236}">
                <a16:creationId xmlns:a16="http://schemas.microsoft.com/office/drawing/2014/main" id="{68B687BC-8CEA-5E70-69E0-6EBDF0C6EF6A}"/>
              </a:ext>
            </a:extLst>
          </p:cNvPr>
          <p:cNvSpPr txBox="1"/>
          <p:nvPr/>
        </p:nvSpPr>
        <p:spPr>
          <a:xfrm>
            <a:off x="742188" y="2322576"/>
            <a:ext cx="6876288" cy="2478024"/>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600" kern="1200" dirty="0">
                <a:solidFill>
                  <a:schemeClr val="tx1"/>
                </a:solidFill>
                <a:latin typeface="+mj-lt"/>
                <a:ea typeface="+mj-ea"/>
                <a:cs typeface="+mj-cs"/>
              </a:rPr>
              <a:t>Bibliography </a:t>
            </a:r>
          </a:p>
        </p:txBody>
      </p:sp>
      <p:sp>
        <p:nvSpPr>
          <p:cNvPr id="30" name="Rectangle 29">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53092"/>
            <a:ext cx="256032" cy="13078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786" y="4886960"/>
            <a:ext cx="6766560" cy="3657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CuadroTexto 1">
            <a:extLst>
              <a:ext uri="{FF2B5EF4-FFF2-40B4-BE49-F238E27FC236}">
                <a16:creationId xmlns:a16="http://schemas.microsoft.com/office/drawing/2014/main" id="{CF7F9F02-82E7-9C95-9556-81B5C6A85B16}"/>
              </a:ext>
            </a:extLst>
          </p:cNvPr>
          <p:cNvSpPr txBox="1"/>
          <p:nvPr/>
        </p:nvSpPr>
        <p:spPr>
          <a:xfrm>
            <a:off x="740664" y="5109719"/>
            <a:ext cx="6877812" cy="7365492"/>
          </a:xfrm>
          <a:prstGeom prst="rect">
            <a:avLst/>
          </a:prstGeom>
        </p:spPr>
        <p:txBody>
          <a:bodyPr vert="horz" lIns="91440" tIns="45720" rIns="91440" bIns="45720" rtlCol="0" anchor="t">
            <a:normAutofit fontScale="92500" lnSpcReduction="20000"/>
          </a:bodyPr>
          <a:lstStyle/>
          <a:p>
            <a:pPr indent="-228600">
              <a:lnSpc>
                <a:spcPct val="90000"/>
              </a:lnSpc>
              <a:buFont typeface="Arial" panose="020B0604020202020204" pitchFamily="34" charset="0"/>
              <a:buChar char="•"/>
            </a:pPr>
            <a:endParaRPr lang="en-US" sz="2400" dirty="0"/>
          </a:p>
          <a:p>
            <a:pPr marL="285750" indent="-228600">
              <a:lnSpc>
                <a:spcPct val="90000"/>
              </a:lnSpc>
              <a:buFont typeface="Arial" panose="020B0604020202020204" pitchFamily="34" charset="0"/>
              <a:buChar char="•"/>
            </a:pPr>
            <a:r>
              <a:rPr lang="en-US" sz="2400" dirty="0" err="1"/>
              <a:t>Kurzgesagt</a:t>
            </a:r>
            <a:r>
              <a:rPr lang="en-US" sz="2400" dirty="0"/>
              <a:t> – In a Nutshell. (2015, March 12). Banking explained – money and credit [Video]. YouTube. </a:t>
            </a:r>
            <a:r>
              <a:rPr lang="en-US" sz="2400" dirty="0">
                <a:hlinkClick r:id="rId2"/>
              </a:rPr>
              <a:t>https://www.youtube.com/watch?v=fTTGALaRZoc</a:t>
            </a:r>
            <a:endParaRPr lang="en-US" sz="2400" dirty="0"/>
          </a:p>
          <a:p>
            <a:pPr marL="57150">
              <a:lnSpc>
                <a:spcPct val="90000"/>
              </a:lnSpc>
            </a:pPr>
            <a:endParaRPr lang="en-US" sz="2400" dirty="0"/>
          </a:p>
          <a:p>
            <a:pPr marL="285750" indent="-228600">
              <a:lnSpc>
                <a:spcPct val="90000"/>
              </a:lnSpc>
              <a:buFont typeface="Arial" panose="020B0604020202020204" pitchFamily="34" charset="0"/>
              <a:buChar char="•"/>
            </a:pPr>
            <a:r>
              <a:rPr lang="en-US" sz="2400" dirty="0"/>
              <a:t>Wikipedia contributors. (2026, January 8). History of banking. Wikipedia. </a:t>
            </a:r>
            <a:r>
              <a:rPr lang="en-US" sz="2400" dirty="0">
                <a:hlinkClick r:id="rId3"/>
              </a:rPr>
              <a:t>https://en.wikipedia.org/wiki/History_of_banking</a:t>
            </a:r>
            <a:r>
              <a:rPr lang="en-US" sz="2400" dirty="0"/>
              <a:t> </a:t>
            </a:r>
          </a:p>
          <a:p>
            <a:pPr marL="285750" indent="-228600">
              <a:lnSpc>
                <a:spcPct val="90000"/>
              </a:lnSpc>
              <a:spcBef>
                <a:spcPts val="1200"/>
              </a:spcBef>
              <a:spcAft>
                <a:spcPts val="1200"/>
              </a:spcAft>
              <a:buFont typeface="Arial" panose="020B0604020202020204" pitchFamily="34" charset="0"/>
              <a:buChar char="•"/>
            </a:pPr>
            <a:r>
              <a:rPr lang="en-US" sz="2400" dirty="0" err="1"/>
              <a:t>colaboradores</a:t>
            </a:r>
            <a:r>
              <a:rPr lang="en-US" sz="2400" dirty="0"/>
              <a:t> de Wikipedia. (2026, January 28). Historia de la banca. Wikipedia, La </a:t>
            </a:r>
            <a:r>
              <a:rPr lang="en-US" sz="2400" dirty="0" err="1"/>
              <a:t>Enciclopedia</a:t>
            </a:r>
            <a:r>
              <a:rPr lang="en-US" sz="2400" dirty="0"/>
              <a:t> Libre. </a:t>
            </a:r>
            <a:r>
              <a:rPr lang="en-US" sz="2400" dirty="0">
                <a:hlinkClick r:id="rId4"/>
              </a:rPr>
              <a:t>https://es.wikipedia.org/wiki/Historia_de_la_banca</a:t>
            </a:r>
            <a:endParaRPr lang="en-US" sz="2400" dirty="0"/>
          </a:p>
          <a:p>
            <a:pPr marL="285750" indent="-228600">
              <a:lnSpc>
                <a:spcPct val="90000"/>
              </a:lnSpc>
              <a:buFont typeface="Arial" panose="020B0604020202020204" pitchFamily="34" charset="0"/>
              <a:buChar char="•"/>
            </a:pPr>
            <a:r>
              <a:rPr lang="en-US" sz="2400" dirty="0"/>
              <a:t>OpenAI. (2026). Images generated by ChatGPT for a banking history timeline based on author-provided content [Artificial intelligence–generated images]. </a:t>
            </a:r>
            <a:r>
              <a:rPr lang="en-US" sz="2400" dirty="0">
                <a:hlinkClick r:id="rId5"/>
              </a:rPr>
              <a:t>https://chat.openai.com/</a:t>
            </a:r>
            <a:endParaRPr lang="en-US" sz="2400" dirty="0"/>
          </a:p>
          <a:p>
            <a:pPr marL="285750" indent="-228600">
              <a:lnSpc>
                <a:spcPct val="90000"/>
              </a:lnSpc>
              <a:buFont typeface="Arial" panose="020B0604020202020204" pitchFamily="34" charset="0"/>
              <a:buChar char="•"/>
            </a:pPr>
            <a:endParaRPr lang="en-US" sz="2400" dirty="0"/>
          </a:p>
          <a:p>
            <a:pPr marL="57150">
              <a:lnSpc>
                <a:spcPct val="90000"/>
              </a:lnSpc>
            </a:pPr>
            <a:r>
              <a:rPr lang="en-US" sz="2400" dirty="0"/>
              <a:t>----------------------------------------------------------------------------- </a:t>
            </a:r>
          </a:p>
          <a:p>
            <a:pPr marL="285750" indent="-228600">
              <a:lnSpc>
                <a:spcPct val="90000"/>
              </a:lnSpc>
              <a:buFont typeface="Arial" panose="020B0604020202020204" pitchFamily="34" charset="0"/>
              <a:buChar char="•"/>
            </a:pPr>
            <a:endParaRPr lang="en-US" sz="2400" dirty="0"/>
          </a:p>
          <a:p>
            <a:pPr marL="285750" indent="-228600">
              <a:lnSpc>
                <a:spcPct val="90000"/>
              </a:lnSpc>
              <a:buFont typeface="Arial" panose="020B0604020202020204" pitchFamily="34" charset="0"/>
              <a:buChar char="•"/>
            </a:pPr>
            <a:r>
              <a:rPr lang="en-US" sz="2400" dirty="0"/>
              <a:t>Wendover Productions. (2022, September 7). </a:t>
            </a:r>
            <a:r>
              <a:rPr lang="en-US" sz="2400" i="1" dirty="0"/>
              <a:t>Money’s mostly digital, so why is moving it so hard?</a:t>
            </a:r>
            <a:r>
              <a:rPr lang="en-US" sz="2400" dirty="0"/>
              <a:t> [Video]. YouTube. </a:t>
            </a:r>
            <a:r>
              <a:rPr lang="en-US" dirty="0">
                <a:hlinkClick r:id="rId6"/>
              </a:rPr>
              <a:t>https://www.youtube.com/watch?v=8xzINLykprA</a:t>
            </a:r>
            <a:endParaRPr lang="en-US" dirty="0"/>
          </a:p>
          <a:p>
            <a:pPr marL="285750" indent="-228600">
              <a:lnSpc>
                <a:spcPct val="90000"/>
              </a:lnSpc>
              <a:buFont typeface="Arial" panose="020B0604020202020204" pitchFamily="34" charset="0"/>
              <a:buChar char="•"/>
            </a:pPr>
            <a:br>
              <a:rPr lang="en-US" sz="2400" dirty="0"/>
            </a:br>
            <a:r>
              <a:rPr lang="en-US" sz="2400" dirty="0"/>
              <a:t>Bain, S. (n.d.). </a:t>
            </a:r>
            <a:r>
              <a:rPr lang="en-US" sz="2400" i="1" dirty="0"/>
              <a:t>Credit creation Theory; How money is actually created</a:t>
            </a:r>
            <a:r>
              <a:rPr lang="en-US" sz="2400" dirty="0"/>
              <a:t>. Dying Economy. </a:t>
            </a:r>
            <a:r>
              <a:rPr lang="en-US" dirty="0">
                <a:hlinkClick r:id="rId7"/>
              </a:rPr>
              <a:t>https://www.dyingeconomy.com/credit-creation.html</a:t>
            </a:r>
            <a:endParaRPr lang="en-US" dirty="0"/>
          </a:p>
          <a:p>
            <a:pPr marL="285750" indent="-228600">
              <a:lnSpc>
                <a:spcPct val="90000"/>
              </a:lnSpc>
              <a:buFont typeface="Arial" panose="020B0604020202020204" pitchFamily="34" charset="0"/>
              <a:buChar char="•"/>
            </a:pPr>
            <a:endParaRPr lang="en-US" dirty="0"/>
          </a:p>
          <a:p>
            <a:pPr marL="285750" indent="-228600">
              <a:lnSpc>
                <a:spcPct val="90000"/>
              </a:lnSpc>
              <a:buFont typeface="Arial" panose="020B0604020202020204" pitchFamily="34" charset="0"/>
              <a:buChar char="•"/>
            </a:pPr>
            <a:r>
              <a:rPr lang="en-US" sz="2400" dirty="0"/>
              <a:t>OpenAI. (2026). </a:t>
            </a:r>
            <a:r>
              <a:rPr lang="en-US" sz="2400" i="1" dirty="0"/>
              <a:t>ChatGPT</a:t>
            </a:r>
            <a:r>
              <a:rPr lang="en-US" sz="2400" dirty="0"/>
              <a:t> (GPT-5.2). Assistance with grammar revision, wording refinement, and guidance on related sources. </a:t>
            </a:r>
            <a:r>
              <a:rPr lang="en-US" dirty="0"/>
              <a:t>https://www.openai.com</a:t>
            </a:r>
            <a:br>
              <a:rPr lang="en-US" sz="2400" dirty="0"/>
            </a:br>
            <a:endParaRPr lang="en-US" sz="2400" dirty="0"/>
          </a:p>
          <a:p>
            <a:pPr marL="57150">
              <a:lnSpc>
                <a:spcPct val="90000"/>
              </a:lnSpc>
            </a:pPr>
            <a:endParaRPr lang="en-US" sz="2400" dirty="0"/>
          </a:p>
        </p:txBody>
      </p:sp>
      <p:pic>
        <p:nvPicPr>
          <p:cNvPr id="6" name="Imagen 5" descr="Imagen en blanco y negro de un edificio&#10;&#10;El contenido generado por IA puede ser incorrecto.">
            <a:extLst>
              <a:ext uri="{FF2B5EF4-FFF2-40B4-BE49-F238E27FC236}">
                <a16:creationId xmlns:a16="http://schemas.microsoft.com/office/drawing/2014/main" id="{BFB3A0E8-9FE1-DFAE-95A3-069B5C47A61B}"/>
              </a:ext>
            </a:extLst>
          </p:cNvPr>
          <p:cNvPicPr>
            <a:picLocks noChangeAspect="1"/>
          </p:cNvPicPr>
          <p:nvPr/>
        </p:nvPicPr>
        <p:blipFill>
          <a:blip r:embed="rId8"/>
          <a:stretch>
            <a:fillRect/>
          </a:stretch>
        </p:blipFill>
        <p:spPr>
          <a:xfrm>
            <a:off x="9802368" y="2113179"/>
            <a:ext cx="13844016" cy="9690809"/>
          </a:xfrm>
          <a:prstGeom prst="rect">
            <a:avLst/>
          </a:prstGeom>
        </p:spPr>
      </p:pic>
    </p:spTree>
    <p:extLst>
      <p:ext uri="{BB962C8B-B14F-4D97-AF65-F5344CB8AC3E}">
        <p14:creationId xmlns:p14="http://schemas.microsoft.com/office/powerpoint/2010/main" val="29611113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UCID-SOURCE" val="7EovbuZOVtbL"/>
  <p:tag name="LUCID-DOCUMENT" val="357194a3-19f1-4467-a625-5c797cdebf01"/>
  <p:tag name="LUCID-UPDATE-TIME" val="177075093339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467</Words>
  <Application>Microsoft Office PowerPoint</Application>
  <PresentationFormat>Personalizado</PresentationFormat>
  <Paragraphs>21</Paragraphs>
  <Slides>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vt:i4>
      </vt:variant>
    </vt:vector>
  </HeadingPairs>
  <TitlesOfParts>
    <vt:vector size="8" baseType="lpstr">
      <vt:lpstr>Arial</vt:lpstr>
      <vt:lpstr>Calibri</vt:lpstr>
      <vt:lpstr>Times New Roman</vt:lpstr>
      <vt:lpstr>Office Theme</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José Armando Melchor Soto</dc:creator>
  <cp:lastModifiedBy>MELCHOR SOTO, JOSE ARMANDO</cp:lastModifiedBy>
  <cp:revision>2</cp:revision>
  <dcterms:created xsi:type="dcterms:W3CDTF">2006-08-16T00:00:00Z</dcterms:created>
  <dcterms:modified xsi:type="dcterms:W3CDTF">2026-02-10T19:53:05Z</dcterms:modified>
</cp:coreProperties>
</file>